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16ee6a6b344221" /><Relationship Type="http://schemas.openxmlformats.org/officeDocument/2006/relationships/extended-properties" Target="/docProps/app.xml" Id="Rf295fec24f484661" /><Relationship Type="http://schemas.openxmlformats.org/officeDocument/2006/relationships/officeDocument" Target="/ppt/presentation.xml" Id="R8995bf7664e44d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2273ec071244a3"/>
  </p:sldMasterIdLst>
  <p:notesMasterIdLst>
    <p:notesMasterId xmlns:r="http://schemas.openxmlformats.org/officeDocument/2006/relationships" r:id="R0aa8456c80734bf0"/>
  </p:notesMasterIdLst>
  <p:sldIdLst>
    <p:sldId xmlns:r="http://schemas.openxmlformats.org/officeDocument/2006/relationships" id="256" r:id="R3c1283db889c49a9"/>
    <p:sldId xmlns:r="http://schemas.openxmlformats.org/officeDocument/2006/relationships" id="257" r:id="Rb00acd0f2dd4474c"/>
    <p:sldId xmlns:r="http://schemas.openxmlformats.org/officeDocument/2006/relationships" id="258" r:id="R5a9acb194a12496e"/>
    <p:sldId xmlns:r="http://schemas.openxmlformats.org/officeDocument/2006/relationships" id="259" r:id="R4e30e80d173649f7"/>
    <p:sldId xmlns:r="http://schemas.openxmlformats.org/officeDocument/2006/relationships" id="260" r:id="Rd6bcb937675f49ae"/>
    <p:sldId xmlns:r="http://schemas.openxmlformats.org/officeDocument/2006/relationships" id="261" r:id="Re1220b1b82dc48e0"/>
    <p:sldId xmlns:r="http://schemas.openxmlformats.org/officeDocument/2006/relationships" id="262" r:id="R0233fbd269a24e7e"/>
    <p:sldId xmlns:r="http://schemas.openxmlformats.org/officeDocument/2006/relationships" id="263" r:id="Rb12460b48ab24c8f"/>
    <p:sldId xmlns:r="http://schemas.openxmlformats.org/officeDocument/2006/relationships" id="264" r:id="R184fd9680f5d40fd"/>
    <p:sldId xmlns:r="http://schemas.openxmlformats.org/officeDocument/2006/relationships" id="265" r:id="R7b64073b4f5a4d35"/>
    <p:sldId xmlns:r="http://schemas.openxmlformats.org/officeDocument/2006/relationships" id="266" r:id="R3034d3684f2f4cde"/>
    <p:sldId xmlns:r="http://schemas.openxmlformats.org/officeDocument/2006/relationships" id="267" r:id="R51f7a5028ae244e6"/>
    <p:sldId xmlns:r="http://schemas.openxmlformats.org/officeDocument/2006/relationships" id="268" r:id="R9923eb86e57f40e6"/>
    <p:sldId xmlns:r="http://schemas.openxmlformats.org/officeDocument/2006/relationships" id="269" r:id="R4f42bdcdbc814a71"/>
    <p:sldId xmlns:r="http://schemas.openxmlformats.org/officeDocument/2006/relationships" id="270" r:id="Rda5a217a84cb47d6"/>
    <p:sldId xmlns:r="http://schemas.openxmlformats.org/officeDocument/2006/relationships" id="271" r:id="R6af51d8ee6a745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52e059ac8a4a3d" /><Relationship Type="http://schemas.openxmlformats.org/officeDocument/2006/relationships/slideMaster" Target="/ppt/slideMasters/slideMaster1.xml" Id="R992273ec071244a3" /><Relationship Type="http://schemas.openxmlformats.org/officeDocument/2006/relationships/notesMaster" Target="/ppt/notesMasters/notesMaster1.xml" Id="R0aa8456c80734bf0" /><Relationship Type="http://schemas.openxmlformats.org/officeDocument/2006/relationships/presProps" Target="/ppt/presProps.xml" Id="Ra0781cca592d4862" /><Relationship Type="http://schemas.openxmlformats.org/officeDocument/2006/relationships/tableStyles" Target="/ppt/tableStyles.xml" Id="R7a7ca10962bc40a6" /><Relationship Type="http://schemas.openxmlformats.org/officeDocument/2006/relationships/slide" Target="/ppt/slides/slide1.xml" Id="R3c1283db889c49a9" /><Relationship Type="http://schemas.openxmlformats.org/officeDocument/2006/relationships/slide" Target="/ppt/slides/slide2.xml" Id="Rb00acd0f2dd4474c" /><Relationship Type="http://schemas.openxmlformats.org/officeDocument/2006/relationships/slide" Target="/ppt/slides/slide3.xml" Id="R5a9acb194a12496e" /><Relationship Type="http://schemas.openxmlformats.org/officeDocument/2006/relationships/slide" Target="/ppt/slides/slide4.xml" Id="R4e30e80d173649f7" /><Relationship Type="http://schemas.openxmlformats.org/officeDocument/2006/relationships/slide" Target="/ppt/slides/slide5.xml" Id="Rd6bcb937675f49ae" /><Relationship Type="http://schemas.openxmlformats.org/officeDocument/2006/relationships/slide" Target="/ppt/slides/slide6.xml" Id="Re1220b1b82dc48e0" /><Relationship Type="http://schemas.openxmlformats.org/officeDocument/2006/relationships/slide" Target="/ppt/slides/slide7.xml" Id="R0233fbd269a24e7e" /><Relationship Type="http://schemas.openxmlformats.org/officeDocument/2006/relationships/slide" Target="/ppt/slides/slide8.xml" Id="Rb12460b48ab24c8f" /><Relationship Type="http://schemas.openxmlformats.org/officeDocument/2006/relationships/slide" Target="/ppt/slides/slide9.xml" Id="R184fd9680f5d40fd" /><Relationship Type="http://schemas.openxmlformats.org/officeDocument/2006/relationships/slide" Target="/ppt/slides/slide10.xml" Id="R7b64073b4f5a4d35" /><Relationship Type="http://schemas.openxmlformats.org/officeDocument/2006/relationships/slide" Target="/ppt/slides/slide11.xml" Id="R3034d3684f2f4cde" /><Relationship Type="http://schemas.openxmlformats.org/officeDocument/2006/relationships/slide" Target="/ppt/slides/slide12.xml" Id="R51f7a5028ae244e6" /><Relationship Type="http://schemas.openxmlformats.org/officeDocument/2006/relationships/slide" Target="/ppt/slides/slide13.xml" Id="R9923eb86e57f40e6" /><Relationship Type="http://schemas.openxmlformats.org/officeDocument/2006/relationships/slide" Target="/ppt/slides/slide14.xml" Id="R4f42bdcdbc814a71" /><Relationship Type="http://schemas.openxmlformats.org/officeDocument/2006/relationships/slide" Target="/ppt/slides/slide15.xml" Id="Rda5a217a84cb47d6" /><Relationship Type="http://schemas.openxmlformats.org/officeDocument/2006/relationships/slide" Target="/ppt/slides/slide16.xml" Id="R6af51d8ee6a745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40fc31a9a0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049632d02b4c74" /><Relationship Type="http://schemas.openxmlformats.org/officeDocument/2006/relationships/notesMaster" Target="/ppt/notesMasters/notesMaster1.xml" Id="Rc2496062684344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0c8dd9ab404436" /><Relationship Type="http://schemas.openxmlformats.org/officeDocument/2006/relationships/notesMaster" Target="/ppt/notesMasters/notesMaster1.xml" Id="Rd9b0892fe714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d5de3f13c44d3d" /><Relationship Type="http://schemas.openxmlformats.org/officeDocument/2006/relationships/notesMaster" Target="/ppt/notesMasters/notesMaster1.xml" Id="R24352140d52f4c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c9b2cd93914cd8" /><Relationship Type="http://schemas.openxmlformats.org/officeDocument/2006/relationships/notesMaster" Target="/ppt/notesMasters/notesMaster1.xml" Id="Rfb6fcc993c0547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de0c5964b74e9a" /><Relationship Type="http://schemas.openxmlformats.org/officeDocument/2006/relationships/notesMaster" Target="/ppt/notesMasters/notesMaster1.xml" Id="R80f7d0024ef44d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fecae0eaf141d0" /><Relationship Type="http://schemas.openxmlformats.org/officeDocument/2006/relationships/notesMaster" Target="/ppt/notesMasters/notesMaster1.xml" Id="Ra6fb33cf97be42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0dfc244494733" /><Relationship Type="http://schemas.openxmlformats.org/officeDocument/2006/relationships/notesMaster" Target="/ppt/notesMasters/notesMaster1.xml" Id="R5ca01b42698946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4bf98a627f4561" /><Relationship Type="http://schemas.openxmlformats.org/officeDocument/2006/relationships/notesMaster" Target="/ppt/notesMasters/notesMaster1.xml" Id="R79d72d0336d44f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830303b88b42b6" /><Relationship Type="http://schemas.openxmlformats.org/officeDocument/2006/relationships/notesMaster" Target="/ppt/notesMasters/notesMaster1.xml" Id="R43ccfcef69e546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9d95194ac14bff" /><Relationship Type="http://schemas.openxmlformats.org/officeDocument/2006/relationships/notesMaster" Target="/ppt/notesMasters/notesMaster1.xml" Id="Rc4c3c0b1892144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77d0b5bfe14eab" /><Relationship Type="http://schemas.openxmlformats.org/officeDocument/2006/relationships/notesMaster" Target="/ppt/notesMasters/notesMaster1.xml" Id="R370b806574b449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94261a6cf34f20" /><Relationship Type="http://schemas.openxmlformats.org/officeDocument/2006/relationships/notesMaster" Target="/ppt/notesMasters/notesMaster1.xml" Id="R452cf68588a845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e064ac76ad441d" /><Relationship Type="http://schemas.openxmlformats.org/officeDocument/2006/relationships/notesMaster" Target="/ppt/notesMasters/notesMaster1.xml" Id="R43eaec906fb84b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05a20a418745a2" /><Relationship Type="http://schemas.openxmlformats.org/officeDocument/2006/relationships/notesMaster" Target="/ppt/notesMasters/notesMaster1.xml" Id="R50ff17032e5747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eb19f6c7ad48ab" /><Relationship Type="http://schemas.openxmlformats.org/officeDocument/2006/relationships/notesMaster" Target="/ppt/notesMasters/notesMaster1.xml" Id="R4abae6b3a9484f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57ffc8e6a14daa" /><Relationship Type="http://schemas.openxmlformats.org/officeDocument/2006/relationships/notesMaster" Target="/ppt/notesMasters/notesMaster1.xml" Id="R97317ad9245349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349063f6144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fc85f3e8f4d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65ba3565b43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332ef9fae4b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48bfc22c043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bd76887cb41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C97E45-4C9D-4A33-A0C2-326EB6767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8A180C-C24D-41AE-8CD9-782A38C1FB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CD21D1-7BA9-49B5-BDED-C95EE1A67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3DFDE0-501D-4217-9B97-E467290E7A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322052-2D6B-46FC-9CC2-EBD91D1426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5B89E9-92B2-4995-BF1F-550CB86DD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BC9F43-A534-427E-B8CE-5FA825F5F6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928A71-1505-4FD7-813C-2135E01C24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7FBE61-60D2-4A86-BF66-7BC10F70DE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90D5F4-2DCD-4068-A38B-ED416D794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bb9f3f6b4b42e0" /><Relationship Type="http://schemas.openxmlformats.org/officeDocument/2006/relationships/slideLayout" Target="/ppt/slideLayouts/slideLayout1.xml" Id="R98ea51a2be0e455e" /><Relationship Type="http://schemas.openxmlformats.org/officeDocument/2006/relationships/slideLayout" Target="/ppt/slideLayouts/slideLayout2.xml" Id="R80b6ddc559144f78" /><Relationship Type="http://schemas.openxmlformats.org/officeDocument/2006/relationships/slideLayout" Target="/ppt/slideLayouts/slideLayout3.xml" Id="R7f8eda1aab1940bc" /><Relationship Type="http://schemas.openxmlformats.org/officeDocument/2006/relationships/slideLayout" Target="/ppt/slideLayouts/slideLayout4.xml" Id="R74295a97806242e8" /><Relationship Type="http://schemas.openxmlformats.org/officeDocument/2006/relationships/slideLayout" Target="/ppt/slideLayouts/slideLayout5.xml" Id="R6ac0f4f79f0948a4" /><Relationship Type="http://schemas.openxmlformats.org/officeDocument/2006/relationships/slideLayout" Target="/ppt/slideLayouts/slideLayout6.xml" Id="R50fcc27c1b834c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ea51a2be0e455e"/>
    <p:sldLayoutId xmlns:r="http://schemas.openxmlformats.org/officeDocument/2006/relationships" id="2147483650" r:id="R80b6ddc559144f78"/>
    <p:sldLayoutId xmlns:r="http://schemas.openxmlformats.org/officeDocument/2006/relationships" id="2147483651" r:id="R7f8eda1aab1940bc"/>
    <p:sldLayoutId xmlns:r="http://schemas.openxmlformats.org/officeDocument/2006/relationships" id="2147483652" r:id="R74295a97806242e8"/>
    <p:sldLayoutId xmlns:r="http://schemas.openxmlformats.org/officeDocument/2006/relationships" id="2147483653" r:id="R6ac0f4f79f0948a4"/>
    <p:sldLayoutId xmlns:r="http://schemas.openxmlformats.org/officeDocument/2006/relationships" id="2147483654" r:id="R50fcc27c1b834c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4c6ad736047ce" /><Relationship Type="http://schemas.openxmlformats.org/officeDocument/2006/relationships/notesSlide" Target="/ppt/notesSlides/notesSlide1.xml" Id="R1b21b13d851c4e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12e5504514e3b" /><Relationship Type="http://schemas.openxmlformats.org/officeDocument/2006/relationships/notesSlide" Target="/ppt/notesSlides/notesSlide2.xml" Id="R65c5f986697b42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a81364dea412b" /><Relationship Type="http://schemas.openxmlformats.org/officeDocument/2006/relationships/notesSlide" Target="/ppt/notesSlides/notesSlide3.xml" Id="R837651f6597249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2f41d1f314669" /><Relationship Type="http://schemas.openxmlformats.org/officeDocument/2006/relationships/notesSlide" Target="/ppt/notesSlides/notesSlide4.xml" Id="Rc39fadcb9bbc47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7af476c694e24" /><Relationship Type="http://schemas.openxmlformats.org/officeDocument/2006/relationships/notesSlide" Target="/ppt/notesSlides/notesSlide5.xml" Id="Ra5195d54b21047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325d40a564398" /><Relationship Type="http://schemas.openxmlformats.org/officeDocument/2006/relationships/notesSlide" Target="/ppt/notesSlides/notesSlide6.xml" Id="Rff8951612f9c46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fc08cb6f54b04" /><Relationship Type="http://schemas.openxmlformats.org/officeDocument/2006/relationships/notesSlide" Target="/ppt/notesSlides/notesSlide7.xml" Id="Rd79b3ea45dc446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15b7d68e049de" /><Relationship Type="http://schemas.openxmlformats.org/officeDocument/2006/relationships/notesSlide" Target="/ppt/notesSlides/notesSlide8.xml" Id="R76ab71f159a34d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806db103694fbb" /><Relationship Type="http://schemas.openxmlformats.org/officeDocument/2006/relationships/notesSlide" Target="/ppt/notesSlides/notesSlide9.xml" Id="Rbc8a7c28ef3645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403230c59451a" /><Relationship Type="http://schemas.openxmlformats.org/officeDocument/2006/relationships/notesSlide" Target="/ppt/notesSlides/notesSlide10.xml" Id="Ref28894049d748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3ce3e37084f09" /><Relationship Type="http://schemas.openxmlformats.org/officeDocument/2006/relationships/notesSlide" Target="/ppt/notesSlides/notesSlide11.xml" Id="Rd908ad2b464e4f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da2544b054d4a" /><Relationship Type="http://schemas.openxmlformats.org/officeDocument/2006/relationships/notesSlide" Target="/ppt/notesSlides/notesSlide12.xml" Id="R2d8b243dd30b40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079c272964d5b" /><Relationship Type="http://schemas.openxmlformats.org/officeDocument/2006/relationships/notesSlide" Target="/ppt/notesSlides/notesSlide13.xml" Id="R81fd774aff0444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b733ab4924928" /><Relationship Type="http://schemas.openxmlformats.org/officeDocument/2006/relationships/notesSlide" Target="/ppt/notesSlides/notesSlide14.xml" Id="Rc275c64b92554a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1a1bc20a04a2e" /><Relationship Type="http://schemas.openxmlformats.org/officeDocument/2006/relationships/notesSlide" Target="/ppt/notesSlides/notesSlide15.xml" Id="R4b573206d35846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c7615a8b04469" /><Relationship Type="http://schemas.openxmlformats.org/officeDocument/2006/relationships/notesSlide" Target="/ppt/notesSlides/notesSlide16.xml" Id="Re785d80e019647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5332B-6B39-417D-9AF1-37965FFF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"/>
            <a:ext cx="4953000" cy="571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9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F7056-6ADA-4015-B16B-52EDBC58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47700"/>
            <a:ext cx="4629150" cy="5295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7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B73C4-343D-4CEA-A676-E8CC2800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14400"/>
            <a:ext cx="4305300" cy="487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9A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A6C12-E678-4A40-ACA5-508194CD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81100"/>
            <a:ext cx="3981450" cy="4457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7A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F0D98-AD70-49A9-A969-AC774FAA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47800"/>
            <a:ext cx="3657600" cy="403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9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FFA22-CF1D-4535-8153-4E7DFA37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3333750" cy="3619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7A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71F3F-5185-4FCB-9AD7-40DD7890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81200"/>
            <a:ext cx="3009900" cy="32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9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BF1E2-6875-407D-A523-54B952DC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571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74403-FF86-4914-BC1B-D199C097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704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lnSpc>
                <a:spcPct val="104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东盟语料下 RAG 增强的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自然资源分布推理系统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10194-5A02-4E00-AB1F-56806FB9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D5E5D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D5E5DC"/>
                </a:solidFill>
              </a:defRPr>
            </a:pPr>
            <a:r>
              <a:rPr sz="1650" b="1">
                <a:solidFill>
                  <a:srgbClr val="D5E5DC"/>
                </a:solidFill>
              </a:rPr>
              <a:t>赛题 4｜“AI + 场景创新”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3D6A0-4753-4903-BBDC-7B4CB3E3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5E5D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5E5DC"/>
                </a:solidFill>
              </a:defRPr>
            </a:pPr>
            <a:r>
              <a:rPr sz="1350" b="0">
                <a:solidFill>
                  <a:srgbClr val="D5E5DC"/>
                </a:solidFill>
              </a:rPr>
              <a:t>第八届 AIC 算法大赛广西赛区省级选拔赛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48297-12C7-4105-A6DB-9578A9A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766A8-789C-4705-9979-7A2F3417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汇报人：邹科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CF339-ECDB-4D66-8F2D-F174367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958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D5E5D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E5DC"/>
                </a:solidFill>
              </a:defRPr>
            </a:pPr>
            <a:r>
              <a:rPr sz="1275" b="0">
                <a:solidFill>
                  <a:srgbClr val="D5E5DC"/>
                </a:solidFill>
              </a:rPr>
              <a:t>广西大学计算机与电子信息学院（人工智能学院）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4992C-E223-4857-8DC9-BEF7A74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8645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99A43"/>
                </a:solidFill>
              </a:defRPr>
            </a:pPr>
            <a:r>
              <a:rPr sz="1125" b="1">
                <a:solidFill>
                  <a:srgbClr val="C99A43"/>
                </a:solidFill>
              </a:rPr>
              <a:t>跨语种语料 · 资源知识 · 空间推理 · 供需连接</a:t>
            </a:r>
          </a:p>
        </p:txBody>
      </p:sp>
    </p:spTree>
    <p:extLst>
      <p:ext uri="{BB962C8B-B14F-4D97-AF65-F5344CB8AC3E}">
        <p14:creationId xmlns:p14="http://schemas.microsoft.com/office/powerpoint/2010/main" val="939334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4EB7D-0ECA-4753-81C5-8E5B9427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7528F-F104-495D-BF0E-00EDA7EF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50E3F-59DE-403D-9FB2-C2A534A7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汇报目录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4EB9D-FD0A-4442-9305-2A12E34B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DC8F8-165B-4ED5-9942-65F0BA0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77D05-C309-4DEB-8A3B-50863AAE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5B04B-FAD9-4B3A-A6AC-07AAA98A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C99A43"/>
                </a:solidFill>
              </a:defRPr>
            </a:pPr>
            <a:r>
              <a:rPr sz="1800" b="1">
                <a:solidFill>
                  <a:srgbClr val="C99A4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65E9D-2C71-4E84-8626-03ED5797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383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项目背景与价值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5EC2C-2A59-4749-9CD3-82244558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D706A"/>
                </a:solidFill>
              </a:defRPr>
            </a:pPr>
            <a:r>
              <a:rPr sz="1800" b="1">
                <a:solidFill>
                  <a:srgbClr val="5D706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39E0D-2022-45C6-84BA-F851DAE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765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B35"/>
                </a:solidFill>
              </a:defRPr>
            </a:pPr>
            <a:r>
              <a:rPr sz="1875" b="0">
                <a:solidFill>
                  <a:srgbClr val="173B35"/>
                </a:solidFill>
              </a:rPr>
              <a:t>赛题定位与核心问题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134A5-533A-400F-8C25-5E5FA367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B91F8-596F-4CD0-A762-F461B17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D706A"/>
                </a:solidFill>
              </a:defRPr>
            </a:pPr>
            <a:r>
              <a:rPr sz="1800" b="1">
                <a:solidFill>
                  <a:srgbClr val="5D706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B9602-022C-49B2-9FDC-4D1A8D1D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147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B35"/>
                </a:solidFill>
              </a:defRPr>
            </a:pPr>
            <a:r>
              <a:rPr sz="1875" b="0">
                <a:solidFill>
                  <a:srgbClr val="173B35"/>
                </a:solidFill>
              </a:rPr>
              <a:t>技术路线与关键方法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A71C3-28A3-4B5E-A7CA-5229678C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10C7F-92A5-48A1-9CF4-F032710B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D706A"/>
                </a:solidFill>
              </a:defRPr>
            </a:pPr>
            <a:r>
              <a:rPr sz="1800" b="1">
                <a:solidFill>
                  <a:srgbClr val="5D706A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B7948-B069-438D-BA00-AD3CB27E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529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B35"/>
                </a:solidFill>
              </a:defRPr>
            </a:pPr>
            <a:r>
              <a:rPr sz="1875" b="0">
                <a:solidFill>
                  <a:srgbClr val="173B35"/>
                </a:solidFill>
              </a:rPr>
              <a:t>系统实现与核心功能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9869D-7F56-4C9F-8F57-1A567F71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E6523-9C00-4906-9FCB-4C31AE0D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D706A"/>
                </a:solidFill>
              </a:defRPr>
            </a:pPr>
            <a:r>
              <a:rPr sz="1800" b="1">
                <a:solidFill>
                  <a:srgbClr val="5D706A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23757-58A7-47D8-80A1-16612EB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B35"/>
                </a:solidFill>
              </a:defRPr>
            </a:pPr>
            <a:r>
              <a:rPr sz="1875" b="0">
                <a:solidFill>
                  <a:srgbClr val="173B35"/>
                </a:solidFill>
              </a:rPr>
              <a:t>项目价值与展望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D3199-C805-4BCB-B69F-70E5C6B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4449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B81AB-3A1F-411F-AE39-32240C67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ACC3A-DE59-46B3-8329-5D36868D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C116A-C27F-48ED-B35F-C9DA270E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项目背景与价值｜战略牵引、现实困境与应用机会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D2EE2-BE8B-4FB1-9F31-59DCE117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8EF54-93F2-44EB-BE2F-4644C685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E33DF-964E-46E1-8F4E-25C118E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C99A43"/>
                </a:solidFill>
              </a:defRPr>
            </a:pPr>
            <a:r>
              <a:rPr sz="2550" b="1">
                <a:solidFill>
                  <a:srgbClr val="C99A4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13EC5-364F-4B30-A440-0AE5E954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35"/>
                </a:solidFill>
              </a:defRPr>
            </a:pPr>
            <a:r>
              <a:rPr sz="1875" b="1">
                <a:solidFill>
                  <a:srgbClr val="173B35"/>
                </a:solidFill>
              </a:rPr>
              <a:t>战略牵引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F261C-906C-42A5-994B-45D1124A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75AF5-12F9-44A2-B897-77A49CF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国家层面：人工智能全球合作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广西路径：北上广研发 + 广西集成 + 东盟应用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80AB8-846A-46D4-8E00-9B6AC949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2857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FB840-28A8-4EFC-8A82-C84F9C29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C99A43"/>
                </a:solidFill>
              </a:defRPr>
            </a:pPr>
            <a:r>
              <a:rPr sz="2550" b="1">
                <a:solidFill>
                  <a:srgbClr val="C99A4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5F9B1-3507-4F22-B416-DF7B34D2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622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35"/>
                </a:solidFill>
              </a:defRPr>
            </a:pPr>
            <a:r>
              <a:rPr sz="1875" b="1">
                <a:solidFill>
                  <a:srgbClr val="173B35"/>
                </a:solidFill>
              </a:rPr>
              <a:t>现实困境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D5480-FB55-448C-9746-E6D4EE0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EC5EF-EBD2-4831-93BB-5BEA9B75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信息分散｜语种多元｜格式异构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获取难、可信度低、整合成本高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F64CA-7FCA-4A00-A6D3-3F79E263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2857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EF779-0032-44CE-A23C-F106B6E7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C99A43"/>
                </a:solidFill>
              </a:defRPr>
            </a:pPr>
            <a:r>
              <a:rPr sz="2550" b="1">
                <a:solidFill>
                  <a:srgbClr val="C99A4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9ABD3-C406-4E71-9DA1-EB86C62A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622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35"/>
                </a:solidFill>
              </a:defRPr>
            </a:pPr>
            <a:r>
              <a:rPr sz="1875" b="1">
                <a:solidFill>
                  <a:srgbClr val="173B35"/>
                </a:solidFill>
              </a:rPr>
              <a:t>项目价值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AC224-81D5-4A04-9CF6-7D21A370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8062F-E17B-4383-B648-DEF89543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建设东盟自然资源库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资源分布可视化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资源查询与供需智能对接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09CB1-A38E-4464-B940-BBBDCFA1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D6857"/>
                </a:solidFill>
              </a:defRPr>
            </a:pPr>
            <a:r>
              <a:rPr sz="1800" b="1">
                <a:solidFill>
                  <a:srgbClr val="1D6857"/>
                </a:solidFill>
              </a:rPr>
              <a:t>从多语种信息发现，走向资源与开发需求的连接</a:t>
            </a:r>
          </a:p>
        </p:txBody>
      </p:sp>
    </p:spTree>
    <p:extLst>
      <p:ext uri="{BB962C8B-B14F-4D97-AF65-F5344CB8AC3E}">
        <p14:creationId xmlns:p14="http://schemas.microsoft.com/office/powerpoint/2010/main" val="1304441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6599E-A62F-47FD-B5F9-91B0113C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B3B3D-2A7A-4741-95E5-142D6D44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8D935-7A04-4FA0-94C8-E7CCC26F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赛题定位｜集成创新与场景创新并重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8765B-01DA-4F28-8C38-A19F432E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1A21C-9835-43DD-81A3-2B5B179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EB74F-F91A-4B26-8AE5-41540930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99A43"/>
                </a:solidFill>
              </a:defRPr>
            </a:pPr>
            <a:r>
              <a:rPr sz="1350" b="1">
                <a:solidFill>
                  <a:srgbClr val="C99A43"/>
                </a:solidFill>
              </a:rPr>
              <a:t>赛题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5B1AA-4E6E-4DAE-B1C8-12C75F65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73B35"/>
                </a:solidFill>
              </a:defRPr>
            </a:pPr>
            <a:r>
              <a:rPr sz="1800" b="0">
                <a:solidFill>
                  <a:srgbClr val="173B35"/>
                </a:solidFill>
              </a:rPr>
              <a:t>“AI + 场景创新”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73B35"/>
                </a:solidFill>
              </a:defRPr>
            </a:pPr>
            <a:r>
              <a:rPr sz="1800" b="0">
                <a:solidFill>
                  <a:srgbClr val="173B35"/>
                </a:solidFill>
              </a:rPr>
              <a:t>捕捉产业痛点，探索人工智能新应用、新服务、新业态与新模式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5E338-017A-46EF-AE62-E01B8FA5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90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BA416-7226-465F-A8BA-18B96F48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D6857"/>
                </a:solidFill>
              </a:defRPr>
            </a:pPr>
            <a:r>
              <a:rPr sz="1125" b="1">
                <a:solidFill>
                  <a:srgbClr val="1D6857"/>
                </a:solidFill>
              </a:rPr>
              <a:t>场景创新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3D6F1-86D7-48B3-BB85-13E337DD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19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173B35"/>
                </a:solidFill>
              </a:defRPr>
            </a:pPr>
            <a:r>
              <a:rPr sz="1650" b="0">
                <a:solidFill>
                  <a:srgbClr val="173B35"/>
                </a:solidFill>
              </a:rPr>
              <a:t>企业找不到资源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173B35"/>
                </a:solidFill>
              </a:defRPr>
            </a:pPr>
            <a:r>
              <a:rPr sz="1650" b="0">
                <a:solidFill>
                  <a:srgbClr val="173B35"/>
                </a:solidFill>
              </a:rPr>
              <a:t>资源找不到开发者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173B35"/>
                </a:solidFill>
              </a:defRPr>
            </a:pPr>
            <a:r>
              <a:rPr sz="1650" b="0">
                <a:solidFill>
                  <a:srgbClr val="173B35"/>
                </a:solidFill>
              </a:rPr>
              <a:t>供需两端信息不对称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EBE47-54CB-43E7-8C85-15F58E2E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D6857"/>
                </a:solidFill>
              </a:defRPr>
            </a:pPr>
            <a:r>
              <a:rPr sz="1125" b="1">
                <a:solidFill>
                  <a:srgbClr val="1D6857"/>
                </a:solidFill>
              </a:rPr>
              <a:t>集成创新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0EDD9-BF6E-49E3-8161-0B5C8B2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面向东盟自然资源场景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把语料、检索、大模型、知识图谱、空间推理与匹配连成闭环</a:t>
            </a:r>
          </a:p>
        </p:txBody>
      </p:sp>
    </p:spTree>
    <p:extLst>
      <p:ext uri="{BB962C8B-B14F-4D97-AF65-F5344CB8AC3E}">
        <p14:creationId xmlns:p14="http://schemas.microsoft.com/office/powerpoint/2010/main" val="1156571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A5977-A21A-4FC0-A0E7-DF4445A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74C9E-B9F6-4ACA-8BCD-859CDC9B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6E5DE-7117-435C-9F56-13C48A6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核心问题｜从多语种图文语料到可决策知识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F8C83-9AEB-47E3-BBAF-F7ACD49D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0B7D5-CA48-4B42-8264-34D98488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2643B-9AAA-4064-AA0B-9917EE6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801BE-CB5D-489B-9035-C5E57E1B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562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多语种、多模态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东盟语料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77952-FD2F-4783-82A3-47C0E4D7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57400"/>
            <a:ext cx="21526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BB140-9F94-4450-8C0F-2FB32E3F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结构化知识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6DCE0-FC7F-4A00-8C22-32D16372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D706A"/>
                </a:solidFill>
              </a:defRPr>
            </a:pPr>
            <a:r>
              <a:rPr sz="1350" b="0">
                <a:solidFill>
                  <a:srgbClr val="5D706A"/>
                </a:solidFill>
              </a:rPr>
              <a:t>资源种类 · 产地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D706A"/>
                </a:solidFill>
              </a:defRPr>
            </a:pPr>
            <a:r>
              <a:rPr sz="1350" b="0">
                <a:solidFill>
                  <a:srgbClr val="5D706A"/>
                </a:solidFill>
              </a:rPr>
              <a:t>产量 · 用途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F877A-DAF2-4C7E-9750-CB626760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23145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01464-AC3E-45FE-B1A6-C0E6868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21526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F0D4E-E421-4459-8133-6422ACF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空间化表达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25014-F275-4AA7-82CF-1C5AA4BE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D706A"/>
                </a:solidFill>
              </a:defRPr>
            </a:pPr>
            <a:r>
              <a:rPr sz="1350" b="0">
                <a:solidFill>
                  <a:srgbClr val="5D706A"/>
                </a:solidFill>
              </a:rPr>
              <a:t>行政区划单元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D706A"/>
                </a:solidFill>
              </a:defRPr>
            </a:pPr>
            <a:r>
              <a:rPr sz="1350" b="0">
                <a:solidFill>
                  <a:srgbClr val="5D706A"/>
                </a:solidFill>
              </a:rPr>
              <a:t>资源分布图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DA505-5442-41F5-928D-C7483127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23145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D4BCD-304A-4140-804C-9D3D908C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1526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0E6E5-88B7-4BD1-8D5F-FFB6EBD5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供需对接建议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EACDE-038F-42CA-8F12-448006D1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D706A"/>
                </a:solidFill>
              </a:defRPr>
            </a:pPr>
            <a:r>
              <a:rPr sz="1350" b="0">
                <a:solidFill>
                  <a:srgbClr val="5D706A"/>
                </a:solidFill>
              </a:rPr>
              <a:t>需求匹配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D706A"/>
                </a:solidFill>
              </a:defRPr>
            </a:pPr>
            <a:r>
              <a:rPr sz="1350" b="0">
                <a:solidFill>
                  <a:srgbClr val="5D706A"/>
                </a:solidFill>
              </a:rPr>
              <a:t>可行性评估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4A3C0-E053-4B33-A61D-5E39631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80767">
            <a:off x="2381250" y="3086100"/>
            <a:ext cx="10251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71014-5FF5-43F7-8FD1-6C320B66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9A43"/>
                </a:solidFill>
              </a:defRPr>
            </a:pPr>
            <a:r>
              <a:rPr sz="1425" b="1">
                <a:solidFill>
                  <a:srgbClr val="C99A43"/>
                </a:solidFill>
              </a:rPr>
              <a:t>核心问题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84772-8B76-4161-888B-14F70C0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790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173B35"/>
                </a:solidFill>
              </a:defRPr>
            </a:pPr>
            <a:r>
              <a:rPr sz="1650" b="0">
                <a:solidFill>
                  <a:srgbClr val="173B35"/>
                </a:solidFill>
              </a:rPr>
              <a:t>如何自动抽取资源实体与属性，构建结构化资源库，推理空间分布，并支持供需智能对接？</a:t>
            </a:r>
          </a:p>
        </p:txBody>
      </p:sp>
    </p:spTree>
    <p:extLst>
      <p:ext uri="{BB962C8B-B14F-4D97-AF65-F5344CB8AC3E}">
        <p14:creationId xmlns:p14="http://schemas.microsoft.com/office/powerpoint/2010/main" val="866144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7C28E-C626-4AE3-86CB-30CC48C0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4297D-B051-4903-BF00-FB40250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6F1FA-7DF2-4732-AD0D-35004076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关键挑战｜三项技术难点与一个场景难点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6CFEF-DBE3-4BFB-B2FD-F8AF5C3A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EB6FE-9C7E-461F-B1DC-EB46636E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D4009-5C86-4EF6-894A-E1294A2C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99A43"/>
                </a:solidFill>
              </a:defRPr>
            </a:pPr>
            <a:r>
              <a:rPr sz="2100" b="1">
                <a:solidFill>
                  <a:srgbClr val="C99A4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84628-07BB-4E70-A915-6B5C935D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B35"/>
                </a:solidFill>
              </a:defRPr>
            </a:pPr>
            <a:r>
              <a:rPr sz="1800" b="1">
                <a:solidFill>
                  <a:srgbClr val="173B35"/>
                </a:solidFill>
              </a:rPr>
              <a:t>语义对齐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83BC0-28C7-4E87-91C9-8707F40C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65A91-77FD-416E-B78D-1811D727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多语种、多模态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表达差异大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87346-0FD0-40F0-BF3D-8651B50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706A"/>
                </a:solidFill>
              </a:defRPr>
            </a:pPr>
            <a:r>
              <a:rPr sz="1125" b="1">
                <a:solidFill>
                  <a:srgbClr val="5D706A"/>
                </a:solidFill>
              </a:rPr>
              <a:t>技术挑战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A0C42-11DD-4FD9-976A-89FA53F0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99A43"/>
                </a:solidFill>
              </a:defRPr>
            </a:pPr>
            <a:r>
              <a:rPr sz="2100" b="1">
                <a:solidFill>
                  <a:srgbClr val="C99A4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DAFD0-3AEE-4AFA-82EE-3B33D76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B35"/>
                </a:solidFill>
              </a:defRPr>
            </a:pPr>
            <a:r>
              <a:rPr sz="1800" b="1">
                <a:solidFill>
                  <a:srgbClr val="173B35"/>
                </a:solidFill>
              </a:rPr>
              <a:t>信息可信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41D1C-E640-46F8-80A2-D067BEBE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7182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17AA5-5100-4EFA-BB97-67450A1B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错误、重复与冲突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需要溯源消解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F16BB-AC6A-4386-A191-AE6A4F9C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706A"/>
                </a:solidFill>
              </a:defRPr>
            </a:pPr>
            <a:r>
              <a:rPr sz="1125" b="1">
                <a:solidFill>
                  <a:srgbClr val="5D706A"/>
                </a:solidFill>
              </a:rPr>
              <a:t>技术挑战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B0915-7708-40DE-9580-E98F1EFE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99A43"/>
                </a:solidFill>
              </a:defRPr>
            </a:pPr>
            <a:r>
              <a:rPr sz="2100" b="1">
                <a:solidFill>
                  <a:srgbClr val="C99A4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FECBB-4B44-4F3B-9ADD-9D04E20C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B35"/>
                </a:solidFill>
              </a:defRPr>
            </a:pPr>
            <a:r>
              <a:rPr sz="1800" b="1">
                <a:solidFill>
                  <a:srgbClr val="173B35"/>
                </a:solidFill>
              </a:rPr>
              <a:t>空间推理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B2251-87BE-4FA4-BF6F-5F664A5D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E51BE-E4E4-49BD-9E49-57A1B34B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数据稀疏时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估算分布与置信度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F45BE-C1A2-4668-BBF4-CF62EB60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706A"/>
                </a:solidFill>
              </a:defRPr>
            </a:pPr>
            <a:r>
              <a:rPr sz="1125" b="1">
                <a:solidFill>
                  <a:srgbClr val="5D706A"/>
                </a:solidFill>
              </a:rPr>
              <a:t>技术挑战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0464E-3A15-4942-8555-CCFB7FCD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99A43"/>
                </a:solidFill>
              </a:defRPr>
            </a:pPr>
            <a:r>
              <a:rPr sz="2100" b="1">
                <a:solidFill>
                  <a:srgbClr val="C99A43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20FAF-2EB8-44B2-8266-788897C1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B35"/>
                </a:solidFill>
              </a:defRPr>
            </a:pPr>
            <a:r>
              <a:rPr sz="1800" b="1">
                <a:solidFill>
                  <a:srgbClr val="173B35"/>
                </a:solidFill>
              </a:rPr>
              <a:t>供需连接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23698-A9E6-4033-9055-7444B3B1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2A610-E297-4761-8900-F6C6D685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统一建模资源与需求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实现双向推荐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7E454-8853-44E3-BE60-9777875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B86B5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86B52"/>
                </a:solidFill>
              </a:defRPr>
            </a:pPr>
            <a:r>
              <a:rPr sz="1125" b="1">
                <a:solidFill>
                  <a:srgbClr val="B86B52"/>
                </a:solidFill>
              </a:rPr>
              <a:t>场景挑战</a:t>
            </a:r>
          </a:p>
        </p:txBody>
      </p:sp>
    </p:spTree>
    <p:extLst>
      <p:ext uri="{BB962C8B-B14F-4D97-AF65-F5344CB8AC3E}">
        <p14:creationId xmlns:p14="http://schemas.microsoft.com/office/powerpoint/2010/main" val="283265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1A775-897E-409A-BF13-AF092723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9E1C-3EE2-4CA1-916E-B30CD20E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47EE1-50EF-4FF6-84E0-924800DA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总体技术路线｜六段式闭环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FBBD4-96AA-447F-A67C-198FF9C7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1C4F1-8F8D-4808-944C-1E42352D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ECB53-449D-4EBF-9290-C48A7B4A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96B67-F16E-407A-9499-02BC467B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37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语料</a:t>
            </a:r>
          </a:p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汇聚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E7431-3797-4D26-863F-400CA457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952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B270F-49FC-4F66-BA13-DE71A6A5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9555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C0917-5B9E-4C20-9773-2B94C9C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137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抽取</a:t>
            </a:r>
          </a:p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检索生成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9A9EA-7142-4C16-B5D5-6555D05B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952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FBA0D-6776-4321-9320-96DA848E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D06FC-995F-4ED3-AD10-1EA13CA8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137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知识</a:t>
            </a:r>
          </a:p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图谱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723D1-744E-413B-B7EC-27DF767F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952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ACA83-2D60-436C-BCCD-C492EF70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DC456-88B6-421F-8325-401CA26B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137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推理</a:t>
            </a:r>
          </a:p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空间估算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A4818-87C1-45AE-A928-F0C653E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975" y="2952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F299B5-9288-4AC7-9FBA-B3E5603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9555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DA81B-2800-4523-8E45-A92C83D0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137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对接</a:t>
            </a:r>
          </a:p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供需匹配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228C4-3B78-4699-8CC9-89CBCBF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2952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7D6A4-D786-4B3E-84CA-BC17F88D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00AD9-3B5B-4800-A380-0D124F20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33650"/>
            <a:ext cx="137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可视化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地图交互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C4CCB-53E8-43E1-9453-343500C4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D706A"/>
                </a:solidFill>
              </a:defRPr>
            </a:pPr>
            <a:r>
              <a:rPr sz="1425" b="0">
                <a:solidFill>
                  <a:srgbClr val="5D706A"/>
                </a:solidFill>
              </a:rPr>
              <a:t>输入：多语种、多模态东盟语料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67199-E960-4242-9DA5-9A6BD475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42672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12878-5FDD-4F49-8E1C-73F47905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148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D706A"/>
                </a:solidFill>
              </a:defRPr>
            </a:pPr>
            <a:r>
              <a:rPr sz="1425" b="0">
                <a:solidFill>
                  <a:srgbClr val="5D706A"/>
                </a:solidFill>
              </a:rPr>
              <a:t>输出：结构化、空间化、可决策的自然资源知识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8FA2A5-9425-4B47-ADD6-2DB4A6F5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D6857"/>
                </a:solidFill>
              </a:defRPr>
            </a:pPr>
            <a:r>
              <a:rPr sz="1650" b="1">
                <a:solidFill>
                  <a:srgbClr val="1D6857"/>
                </a:solidFill>
              </a:rPr>
              <a:t>地图反馈与用户查询回流，形成持续更新的业务闭环</a:t>
            </a:r>
          </a:p>
        </p:txBody>
      </p:sp>
    </p:spTree>
    <p:extLst>
      <p:ext uri="{BB962C8B-B14F-4D97-AF65-F5344CB8AC3E}">
        <p14:creationId xmlns:p14="http://schemas.microsoft.com/office/powerpoint/2010/main" val="1774059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DF59D-04C4-4189-AD73-085CB6C8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7F4BF-9CED-4BE4-AD4F-8920FF4E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A0EF2-F391-4F85-937A-3011BBF6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数据基础与技术选型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1DB4F-3E18-4FAA-AA2B-E3612FE9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F9E0B-5DAE-4428-95C8-493B54E9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7452E-0982-4EE4-9D36-C34B529A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D6857"/>
                </a:solidFill>
              </a:defRPr>
            </a:pPr>
            <a:r>
              <a:rPr sz="1800" b="1">
                <a:solidFill>
                  <a:srgbClr val="1D6857"/>
                </a:solidFill>
              </a:rPr>
              <a:t>语料平台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F4034-5845-4DAC-B9EA-0B92C92F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</a:defRPr>
            </a:pPr>
            <a:r>
              <a:rPr sz="3450" b="1">
                <a:solidFill>
                  <a:srgbClr val="173B35"/>
                </a:solidFill>
              </a:rPr>
              <a:t>20 TB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2EA42-5CEB-44E5-9B3C-852B3981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A"/>
                </a:solidFill>
              </a:defRPr>
            </a:pPr>
            <a:r>
              <a:rPr sz="1200" b="0">
                <a:solidFill>
                  <a:srgbClr val="5D706A"/>
                </a:solidFill>
              </a:rPr>
              <a:t>平台存储能力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EA491-E7EC-4EC6-B2D9-03FADF27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433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8B432-7428-4A69-8FF3-4C360517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B35"/>
                </a:solidFill>
              </a:defRPr>
            </a:pPr>
            <a:r>
              <a:rPr sz="2400" b="1">
                <a:solidFill>
                  <a:srgbClr val="173B35"/>
                </a:solidFill>
              </a:rPr>
              <a:t>约 2.5 TB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281EF-5869-445E-97E0-C8009DB3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已收集东盟多模态语料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文本 · 音频 · 图像 · 视频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覆盖东盟十国多种语言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D2650-9BD9-4C00-9D9A-61DBDB61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335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BA073-DBD5-4FBA-8BEF-9C14636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D6857"/>
                </a:solidFill>
              </a:defRPr>
            </a:pPr>
            <a:r>
              <a:rPr sz="1800" b="1">
                <a:solidFill>
                  <a:srgbClr val="1D6857"/>
                </a:solidFill>
              </a:rPr>
              <a:t>端到端技术链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92E03-C7A8-4880-B091-DA2489BF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99A43"/>
                </a:solidFill>
              </a:defRPr>
            </a:pPr>
            <a:r>
              <a:rPr sz="1350" b="1">
                <a:solidFill>
                  <a:srgbClr val="C99A43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3AA3E-5758-41F0-88DF-5E91631E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B35"/>
                </a:solidFill>
              </a:defRPr>
            </a:pPr>
            <a:r>
              <a:rPr sz="1575" b="1">
                <a:solidFill>
                  <a:srgbClr val="173B35"/>
                </a:solidFill>
              </a:rPr>
              <a:t>RAG 增强抽取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6B418-F03D-4353-AED5-FEA6FB58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EDD36-1135-48C2-B16F-3ECF1F33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99A43"/>
                </a:solidFill>
              </a:defRPr>
            </a:pPr>
            <a:r>
              <a:rPr sz="1350" b="1">
                <a:solidFill>
                  <a:srgbClr val="C99A43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1518F-76C9-47DD-B341-F9F4F7FC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33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B35"/>
                </a:solidFill>
              </a:defRPr>
            </a:pPr>
            <a:r>
              <a:rPr sz="1575" b="0">
                <a:solidFill>
                  <a:srgbClr val="173B35"/>
                </a:solidFill>
              </a:rPr>
              <a:t>多模态大模型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99D2C-6FA4-4827-9FA7-9C7AFD43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623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CF194-A2D6-4F64-B779-1BE2B58F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99A43"/>
                </a:solidFill>
              </a:defRPr>
            </a:pPr>
            <a:r>
              <a:rPr sz="1350" b="1">
                <a:solidFill>
                  <a:srgbClr val="C99A43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85195-B336-49F3-B7C0-9659211E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B35"/>
                </a:solidFill>
              </a:defRPr>
            </a:pPr>
            <a:r>
              <a:rPr sz="1575" b="0">
                <a:solidFill>
                  <a:srgbClr val="173B35"/>
                </a:solidFill>
              </a:rPr>
              <a:t>Neo4j 知识图谱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FD5CC-54BE-4210-A8BA-690A0DC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5287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8DF54-1945-4E92-9934-A15B12D1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99A43"/>
                </a:solidFill>
              </a:defRPr>
            </a:pPr>
            <a:r>
              <a:rPr sz="1350" b="1">
                <a:solidFill>
                  <a:srgbClr val="C99A43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92AA8-6BC4-4367-A454-2833C60A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14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B35"/>
                </a:solidFill>
              </a:defRPr>
            </a:pPr>
            <a:r>
              <a:rPr sz="1575" b="0">
                <a:solidFill>
                  <a:srgbClr val="173B35"/>
                </a:solidFill>
              </a:rPr>
              <a:t>空间分布推理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5DC8C-0E94-4A6F-9042-4C87EF01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434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AB26F-D0FF-472D-A143-FEE9F585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99A43"/>
                </a:solidFill>
              </a:defRPr>
            </a:pPr>
            <a:r>
              <a:rPr sz="1350" b="1">
                <a:solidFill>
                  <a:srgbClr val="C99A43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9E702E-A720-49DA-A871-9BC05100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B35"/>
                </a:solidFill>
              </a:defRPr>
            </a:pPr>
            <a:r>
              <a:rPr sz="1575" b="0">
                <a:solidFill>
                  <a:srgbClr val="173B35"/>
                </a:solidFill>
              </a:rPr>
              <a:t>供需语义匹配</a:t>
            </a:r>
          </a:p>
        </p:txBody>
      </p:sp>
    </p:spTree>
    <p:extLst>
      <p:ext uri="{BB962C8B-B14F-4D97-AF65-F5344CB8AC3E}">
        <p14:creationId xmlns:p14="http://schemas.microsoft.com/office/powerpoint/2010/main" val="280422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66210-C6A6-47B9-859F-DB4412D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65886-A448-467E-86FD-B21F7BD2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4DBDB-F11D-4CB3-8A2F-EF24F774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RAG 增强的多模态信息抽取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CB8DE-13DD-46C7-A78B-04C1E5C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969F2-7BA0-45B7-BF0D-67160CC4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1F5D3-0037-4548-8A4B-AE989278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99A43"/>
                </a:solidFill>
              </a:defRPr>
            </a:pPr>
            <a:r>
              <a:rPr sz="2250" b="1">
                <a:solidFill>
                  <a:srgbClr val="C99A4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2F964-24AB-47D2-95BC-A558EF75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35"/>
                </a:solidFill>
              </a:defRPr>
            </a:pPr>
            <a:r>
              <a:rPr sz="1875" b="1">
                <a:solidFill>
                  <a:srgbClr val="173B35"/>
                </a:solidFill>
              </a:rPr>
              <a:t>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727A9-23C1-4EFC-8EBC-1FAAF057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D00D2-056A-49F4-876E-19E51FDC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多语种文本编码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图像视觉编码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图文语义对齐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D3FE6-7BD3-4461-815B-87FC2379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6860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3897C-1467-4F62-BF02-1EB877B9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99A43"/>
                </a:solidFill>
              </a:defRPr>
            </a:pPr>
            <a:r>
              <a:rPr sz="2250" b="1">
                <a:solidFill>
                  <a:srgbClr val="C99A4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FA22B-CBC2-4CB1-9297-DF4BC184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35"/>
                </a:solidFill>
              </a:defRPr>
            </a:pPr>
            <a:r>
              <a:rPr sz="1875" b="1">
                <a:solidFill>
                  <a:srgbClr val="173B35"/>
                </a:solidFill>
              </a:rPr>
              <a:t>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47820-A393-46A5-B044-3805D924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DF880-3D70-4BAA-8E99-8E82FA3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召回证据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构建提示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多模态模型抽取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B233A-F2F6-424B-B8A7-D4E062D0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6860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E99E9-4AFA-4F13-B7A3-9DABA1F1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99A43"/>
                </a:solidFill>
              </a:defRPr>
            </a:pPr>
            <a:r>
              <a:rPr sz="2250" b="1">
                <a:solidFill>
                  <a:srgbClr val="C99A4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E8B40-B3D9-4E5D-90B1-FD789631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35"/>
                </a:solidFill>
              </a:defRPr>
            </a:pPr>
            <a:r>
              <a:rPr sz="1875" b="1">
                <a:solidFill>
                  <a:srgbClr val="173B35"/>
                </a:solidFill>
              </a:rPr>
              <a:t>适配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7CEEF-4C3C-4EAB-BCC7-40482DAD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194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6BBC9-AC91-4CBE-B24C-1FE78A75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低资源语种术语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别名映射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173B35"/>
                </a:solidFill>
              </a:defRPr>
            </a:pPr>
            <a:r>
              <a:rPr sz="1500" b="0">
                <a:solidFill>
                  <a:srgbClr val="173B35"/>
                </a:solidFill>
              </a:rPr>
              <a:t>证据筛选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29F03-4099-4832-8822-3D4770AB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54506-43E0-4457-A164-525E3D6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7207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D6857"/>
                </a:solidFill>
              </a:defRPr>
            </a:pPr>
            <a:r>
              <a:rPr sz="1650" b="1">
                <a:solidFill>
                  <a:srgbClr val="1D6857"/>
                </a:solidFill>
              </a:rPr>
              <a:t>输出：资源实体与属性 + 证据来源 + 置信度标注</a:t>
            </a:r>
          </a:p>
        </p:txBody>
      </p:sp>
    </p:spTree>
    <p:extLst>
      <p:ext uri="{BB962C8B-B14F-4D97-AF65-F5344CB8AC3E}">
        <p14:creationId xmlns:p14="http://schemas.microsoft.com/office/powerpoint/2010/main" val="1904160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729F8-4691-4BCF-B02D-B536F05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8940D-D8AE-4532-BAD8-A1BB587A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1C919-3522-404B-8920-2F7FEEBC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错误消解与置信度评估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B64CB-C70B-4B1C-9896-9EFEAF5A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4A770-AF8F-4940-854E-CA5B7A2E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E6BCA-08C3-4D46-90EF-C3BD7A39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71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8002-1E6D-4257-819B-7E15C1B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多源交叉验证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6F832-7517-43C3-9B6A-CA7E65B4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2383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8C6DE-B427-4331-B0D7-D8B513D3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2171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6F073-DEC3-4452-9B7D-53A19EE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90725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冲突分级消解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9BD18-062A-457A-8A89-FAFFC36E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2383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8248F-42BA-4DA2-A419-B6D03FE7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171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38A68-719D-4EA5-840B-BD2C8EB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0725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置信度评估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CB0EC-A50E-43F7-AAB6-E6722F0E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2383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38D8E-91EB-4BCE-A3FF-695D56F6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52625"/>
            <a:ext cx="2171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3ECD1-242E-4612-A9F1-D043123C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90725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分级处理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6DCA4-B16B-4644-89BA-D21C05F4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D6857"/>
                </a:solidFill>
              </a:defRPr>
            </a:pPr>
            <a:r>
              <a:rPr sz="1575" b="1">
                <a:solidFill>
                  <a:srgbClr val="1D6857"/>
                </a:solidFill>
              </a:rPr>
              <a:t>证据强度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A3084-2B3E-47EE-BCC3-42E9786F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来源数量、权威性、一致性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62EEB-7F0E-44B9-8EC6-E5B5CC4A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D6857"/>
                </a:solidFill>
              </a:defRPr>
            </a:pPr>
            <a:r>
              <a:rPr sz="1575" b="1">
                <a:solidFill>
                  <a:srgbClr val="1D6857"/>
                </a:solidFill>
              </a:rPr>
              <a:t>抽取质量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87D68-CF60-4BB6-9982-5371AB47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528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模型输出、证据对齐、格式规范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C4FF3-9334-41DC-B066-6F583BA7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D6857"/>
                </a:solidFill>
              </a:defRPr>
            </a:pPr>
            <a:r>
              <a:rPr sz="1575" b="1">
                <a:solidFill>
                  <a:srgbClr val="1D6857"/>
                </a:solidFill>
              </a:rPr>
              <a:t>领域一致性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44FC4-D5D1-4E3D-90CE-F7D4069E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528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自然资源常识与空间分布规律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F46E0-C9FC-449A-8633-12311485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14875"/>
            <a:ext cx="2438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A508E-6C6B-4266-A1F6-456AE14D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高置信度｜直接入图谱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21E79-136A-45B7-A507-305E020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14875"/>
            <a:ext cx="2438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18207-02FB-454A-848A-B4AA7719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577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中置信度｜待人工验证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CBCCD-C1AC-4D59-986A-E5FA18C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14875"/>
            <a:ext cx="2438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86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ED198-A0DB-4851-8815-4750156C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低置信度｜过滤</a:t>
            </a:r>
          </a:p>
        </p:txBody>
      </p:sp>
    </p:spTree>
    <p:extLst>
      <p:ext uri="{BB962C8B-B14F-4D97-AF65-F5344CB8AC3E}">
        <p14:creationId xmlns:p14="http://schemas.microsoft.com/office/powerpoint/2010/main" val="735598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5815E2-364A-4D5F-9AF2-4350B652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B72CD-6CB5-4686-843A-1C473D3C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3A22-7F69-435B-B5F1-467AF17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多模态知识图谱与供需统一建模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A6CCC-8387-4A54-ACEF-99D45F1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E1655-D5BB-46FC-9EA8-AC98603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6CF63-9920-4812-A4EE-4E9135F6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E05C8-2BE0-4950-A70C-29A4650F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9075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3B35"/>
                </a:solidFill>
              </a:defRPr>
            </a:pPr>
            <a:r>
              <a:rPr sz="1350" b="1">
                <a:solidFill>
                  <a:srgbClr val="173B35"/>
                </a:solidFill>
              </a:rPr>
              <a:t>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F377F-14BA-4991-B64E-0FF9D1D9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6655C-C0CA-4674-B2D2-932094B0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3B35"/>
                </a:solidFill>
              </a:defRPr>
            </a:pPr>
            <a:r>
              <a:rPr sz="1350" b="1">
                <a:solidFill>
                  <a:srgbClr val="173B35"/>
                </a:solidFill>
              </a:rPr>
              <a:t>产地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A2C4B-3050-47DA-8F32-40137B78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F5AFA-5AD4-4270-BDBD-517A9960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766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3B35"/>
                </a:solidFill>
              </a:defRPr>
            </a:pPr>
            <a:r>
              <a:rPr sz="1350" b="1">
                <a:solidFill>
                  <a:srgbClr val="173B35"/>
                </a:solidFill>
              </a:rPr>
              <a:t>产量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40128-3362-4962-BABD-7A79084A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5211-5C71-4568-8DA6-88C79B7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3B35"/>
                </a:solidFill>
              </a:defRPr>
            </a:pPr>
            <a:r>
              <a:rPr sz="1350" b="1">
                <a:solidFill>
                  <a:srgbClr val="173B35"/>
                </a:solidFill>
              </a:rPr>
              <a:t>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A8353-FBD1-4CE7-9CFC-0DB677A4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66C30-8326-4313-B3FE-5C1E7826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3B35"/>
                </a:solidFill>
              </a:defRPr>
            </a:pPr>
            <a:r>
              <a:rPr sz="1350" b="1">
                <a:solidFill>
                  <a:srgbClr val="173B35"/>
                </a:solidFill>
              </a:rPr>
              <a:t>生产单位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17748-831D-4990-8272-E960C5D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69A4E-2C84-49C7-B575-A1C373E3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6225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企业需求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CDA75-2B5C-478E-8CA9-BAA446F6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3546">
            <a:off x="2952750" y="2400300"/>
            <a:ext cx="1087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DDD60-5C9C-4DD2-B43C-8BABB16B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85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706A"/>
                </a:solidFill>
              </a:defRPr>
            </a:pPr>
            <a:r>
              <a:rPr sz="1050" b="1">
                <a:solidFill>
                  <a:srgbClr val="5D706A"/>
                </a:solidFill>
              </a:rPr>
              <a:t>产于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6F0C7-0CFD-4626-879A-00F14CDE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57502">
            <a:off x="2952750" y="2476500"/>
            <a:ext cx="14627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BBD6B-8C75-47AD-9E27-CBE2792E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765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D706A"/>
                </a:solidFill>
              </a:defRPr>
            </a:pPr>
            <a:r>
              <a:rPr sz="975" b="1">
                <a:solidFill>
                  <a:srgbClr val="5D706A"/>
                </a:solidFill>
              </a:rPr>
              <a:t>分布 / 产出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22B53-9DCD-4F73-AEF1-75D2C11C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229">
            <a:off x="5638800" y="2266950"/>
            <a:ext cx="10017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39EB7-56E4-432B-BF14-A7949C01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97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706A"/>
                </a:solidFill>
              </a:defRPr>
            </a:pPr>
            <a:r>
              <a:rPr sz="1050" b="1">
                <a:solidFill>
                  <a:srgbClr val="5D706A"/>
                </a:solidFill>
              </a:rPr>
              <a:t>用于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AFF6D-9273-4689-B665-E1F8492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6420">
            <a:off x="5638800" y="3524250"/>
            <a:ext cx="100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24DB7-D6EA-4125-B9BA-5BD0039F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706A"/>
                </a:solidFill>
              </a:defRPr>
            </a:pPr>
            <a:r>
              <a:rPr sz="1050" b="1">
                <a:solidFill>
                  <a:srgbClr val="5D706A"/>
                </a:solidFill>
              </a:rPr>
              <a:t>由…生产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67A4E-7B2D-4D06-963B-3A829FAA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74315">
            <a:off x="8286750" y="3619500"/>
            <a:ext cx="11571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F7C58-DE5B-4C41-937A-A797BD33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D706A"/>
                </a:solidFill>
              </a:defRPr>
            </a:pPr>
            <a:r>
              <a:rPr sz="975" b="1">
                <a:solidFill>
                  <a:srgbClr val="5D706A"/>
                </a:solidFill>
              </a:rPr>
              <a:t>匹配 / 潜在合作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26F9B-0C82-41AE-AADE-E6434092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本体设计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C7E8E-0D39-4B6C-9F04-B5D00125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00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多模态融合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76865-A47E-4853-8F1F-103500BA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00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属性推理补全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FA9B2-12F7-4142-BC70-564DA7FA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005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双向供需建模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0E77D0-9BFB-4BB8-A333-29B4F23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95875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5D706A"/>
                </a:solidFill>
              </a:defRPr>
            </a:pPr>
            <a:r>
              <a:rPr sz="1275" b="0">
                <a:solidFill>
                  <a:srgbClr val="5D706A"/>
                </a:solidFill>
              </a:rPr>
              <a:t>文本三元组、图像实体与图文关联边共同支撑资源侧和需求侧知识连接。</a:t>
            </a:r>
          </a:p>
        </p:txBody>
      </p:sp>
    </p:spTree>
    <p:extLst>
      <p:ext uri="{BB962C8B-B14F-4D97-AF65-F5344CB8AC3E}">
        <p14:creationId xmlns:p14="http://schemas.microsoft.com/office/powerpoint/2010/main" val="1401458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4A5E56-770C-41B1-ADA4-D24F46D7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44ED2-FD0E-4CBC-8A26-A61BC191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19477-5CD4-4FAC-B710-E7E5796F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自然资源分布推理与分级表达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6557B-FFBC-4B77-A1E0-0A285296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CA34F-7982-4C7A-A72A-544E002F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94BE9-050F-412B-B126-7396000D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D6857"/>
                </a:solidFill>
              </a:defRPr>
            </a:pPr>
            <a:r>
              <a:rPr sz="1725" b="1">
                <a:solidFill>
                  <a:srgbClr val="1D6857"/>
                </a:solidFill>
              </a:rPr>
              <a:t>空间映射流程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7D1AC-DD74-48E7-B342-63C59C57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99A43"/>
                </a:solidFill>
              </a:defRPr>
            </a:pPr>
            <a:r>
              <a:rPr sz="1575" b="1">
                <a:solidFill>
                  <a:srgbClr val="C99A4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92549-6358-476D-8ECB-87051E0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24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B35"/>
                </a:solidFill>
              </a:defRPr>
            </a:pPr>
            <a:r>
              <a:rPr sz="1500" b="1">
                <a:solidFill>
                  <a:srgbClr val="173B35"/>
                </a:solidFill>
              </a:rPr>
              <a:t>产地地理编码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E1EB9-C1DB-470D-954C-27789A4A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432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8CB6E-CAB2-48BB-9686-C798AD88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99A43"/>
                </a:solidFill>
              </a:defRPr>
            </a:pPr>
            <a:r>
              <a:rPr sz="1575" b="1">
                <a:solidFill>
                  <a:srgbClr val="C99A4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C8A15-9FCB-4ACD-B6CE-43350DF2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B35"/>
                </a:solidFill>
              </a:defRPr>
            </a:pPr>
            <a:r>
              <a:rPr sz="1500" b="1">
                <a:solidFill>
                  <a:srgbClr val="173B35"/>
                </a:solidFill>
              </a:rPr>
              <a:t>县 / 省级映射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4EF47-2844-40C4-AB75-B4B994A0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BA7F8-2350-4609-B44E-DF0D3B58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99A43"/>
                </a:solidFill>
              </a:defRPr>
            </a:pPr>
            <a:r>
              <a:rPr sz="1575" b="1">
                <a:solidFill>
                  <a:srgbClr val="C99A43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809F2-5A35-4B5E-9F02-BD67A683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B35"/>
                </a:solidFill>
              </a:defRPr>
            </a:pPr>
            <a:r>
              <a:rPr sz="1500" b="1">
                <a:solidFill>
                  <a:srgbClr val="173B35"/>
                </a:solidFill>
              </a:rPr>
              <a:t>产量加权汇总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55137-529A-4B60-8927-204FEED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3791B-A258-4870-900F-E3431B8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99A43"/>
                </a:solidFill>
              </a:defRPr>
            </a:pPr>
            <a:r>
              <a:rPr sz="1575" b="1">
                <a:solidFill>
                  <a:srgbClr val="C99A43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33E65-3399-4BD6-9EFC-828289EE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B35"/>
                </a:solidFill>
              </a:defRPr>
            </a:pPr>
            <a:r>
              <a:rPr sz="1500" b="1">
                <a:solidFill>
                  <a:srgbClr val="173B35"/>
                </a:solidFill>
              </a:rPr>
              <a:t>缺失数据估算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C7115-4AF7-46D6-AA55-0E2A8784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D706A"/>
                </a:solidFill>
              </a:defRPr>
            </a:pPr>
            <a:r>
              <a:rPr sz="1275" b="1">
                <a:solidFill>
                  <a:srgbClr val="5D706A"/>
                </a:solidFill>
              </a:rPr>
              <a:t>估算线索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A8324-EA7D-49D8-A441-DB5229F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A"/>
                </a:solidFill>
              </a:defRPr>
            </a:pPr>
            <a:r>
              <a:rPr sz="1200" b="0">
                <a:solidFill>
                  <a:srgbClr val="5D706A"/>
                </a:solidFill>
              </a:rPr>
              <a:t>种植面积 · 卫星植被指数 · 企业收购点 · 物流数据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EDD55-69DD-406F-BCDA-3E121AA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D6857"/>
                </a:solidFill>
              </a:defRPr>
            </a:pPr>
            <a:r>
              <a:rPr sz="1650" b="1">
                <a:solidFill>
                  <a:srgbClr val="1D6857"/>
                </a:solidFill>
              </a:rPr>
              <a:t>地图表达示意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5C10F-FF9B-4E68-8744-AC60866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20DC7-49BF-408F-BB07-66ACC280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2410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9D2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A832F-C883-48D3-8DA8-AA701877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EA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EA97F-665E-47E2-A074-E3E3F61C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2410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F80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C95F4-BAB0-4181-943B-BC632CD7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8B0C3-9E25-42D6-8C3E-ED89DB52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6702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9D2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CAF4F-78BD-4EA4-8278-621C18AD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6702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EA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F0199-2964-409E-B0A9-793FE0DE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6702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F80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AADD06-F362-4573-B3FD-61BC3A03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6702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FD75E8-C71E-4260-9B01-5FB6534B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6702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9D2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1F4272-D8A5-4C54-A990-FE1AF87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EA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B04856-0D1A-4BF2-8756-D50B6BB7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40995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F80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20214-DF1E-40AC-A551-5452A6A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D31B16-804A-4CA5-AD53-292D306F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0995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9D2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6D000F-10CC-4E85-AEE2-0A7AB3FD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09950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EA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231DB8-4883-4E6D-AC1C-C57B723D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5287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F80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0DF460-82BB-4E06-899D-3D35558F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5287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F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E7925A-8FBA-4D64-AD93-21607557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5287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9D2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CA4123-36DC-4CE8-8391-C75E68A9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5287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EA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F98757-D0ED-4D2B-9B64-905DFB03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52875"/>
            <a:ext cx="552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F80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132155-CA6F-4179-B4CB-C3DA011A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95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42DF52-C73C-49C9-8D0B-964101AD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577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B35"/>
                </a:solidFill>
              </a:defRPr>
            </a:pPr>
            <a:r>
              <a:rPr sz="1200" b="0">
                <a:solidFill>
                  <a:srgbClr val="173B35"/>
                </a:solidFill>
              </a:rPr>
              <a:t>定量：颜色深浅表示产量高低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2FE7C0-F24F-410F-9BC6-DDC885D2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A1E1A0-3DF4-4106-8041-1D670680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B35"/>
                </a:solidFill>
              </a:defRPr>
            </a:pPr>
            <a:r>
              <a:rPr sz="1200" b="0">
                <a:solidFill>
                  <a:srgbClr val="173B35"/>
                </a:solidFill>
              </a:rPr>
              <a:t>定性：蒙版表示资源存在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FAB68F-9859-4E0D-A373-18F1D28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625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7DA45C-0FEC-4024-B826-068BCB6F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244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B35"/>
                </a:solidFill>
              </a:defRPr>
            </a:pPr>
            <a:r>
              <a:rPr sz="1200" b="0">
                <a:solidFill>
                  <a:srgbClr val="173B35"/>
                </a:solidFill>
              </a:rPr>
              <a:t>缺失：灰色标注，保留不确定性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EB8025-938C-4E8D-942D-30C34442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7912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示意图例，不代表具体国家或县域的实测分布</a:t>
            </a:r>
          </a:p>
        </p:txBody>
      </p:sp>
    </p:spTree>
    <p:extLst>
      <p:ext uri="{BB962C8B-B14F-4D97-AF65-F5344CB8AC3E}">
        <p14:creationId xmlns:p14="http://schemas.microsoft.com/office/powerpoint/2010/main" val="14824192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16912-2BC0-4BD9-930A-74744A84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BE9E7-12FC-4D6B-AF7D-1A4594B8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F71A6-E149-43A8-AB55-1A9DB55A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供需智能对接机制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A6C70-9690-445E-AA54-C84216FC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58EA6-53B0-4E5E-B8C5-32CBF3A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033B5-A5A7-4C04-BC9F-64D8027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99A43"/>
                </a:solidFill>
              </a:defRPr>
            </a:pPr>
            <a:r>
              <a:rPr sz="1950" b="1">
                <a:solidFill>
                  <a:srgbClr val="C99A4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5559C-EC01-4610-BE7E-C513A5DF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B35"/>
                </a:solidFill>
              </a:defRPr>
            </a:pPr>
            <a:r>
              <a:rPr sz="1575" b="1">
                <a:solidFill>
                  <a:srgbClr val="173B35"/>
                </a:solidFill>
              </a:rPr>
              <a:t>需求解析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F82EE-0A0A-4D18-BAFE-7F7609F9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F4783-C4BE-424F-A596-C1B6C44A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企业需求 → 结构化约束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30AE-406F-42B8-909E-3FAA4B31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828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188F1-760A-4807-BB6D-9E413D92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99A43"/>
                </a:solidFill>
              </a:defRPr>
            </a:pPr>
            <a:r>
              <a:rPr sz="1950" b="1">
                <a:solidFill>
                  <a:srgbClr val="C99A4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7ED55-1A89-453E-9AD7-670B608F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B35"/>
                </a:solidFill>
              </a:defRPr>
            </a:pPr>
            <a:r>
              <a:rPr sz="1575" b="1">
                <a:solidFill>
                  <a:srgbClr val="173B35"/>
                </a:solidFill>
              </a:rPr>
              <a:t>双向匹配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E7F61-1171-4274-B9A8-0CB5AABB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0515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E1783-0856-4FC5-ABB0-38B9A96D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图查询 + 向量检索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D72CB-6201-4AC6-8AAF-C90B4A53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828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855FC-5924-4257-BA5F-10BF22B0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99A43"/>
                </a:solidFill>
              </a:defRPr>
            </a:pPr>
            <a:r>
              <a:rPr sz="1950" b="1">
                <a:solidFill>
                  <a:srgbClr val="C99A4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823FD-9012-4E91-BA40-3A73E92F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B35"/>
                </a:solidFill>
              </a:defRPr>
            </a:pPr>
            <a:r>
              <a:rPr sz="1575" b="1">
                <a:solidFill>
                  <a:srgbClr val="173B35"/>
                </a:solidFill>
              </a:rPr>
              <a:t>可行性评估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36698-2551-4CE8-BD67-F5309D71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2C517-B2EB-41F5-A48F-939079A7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集中度 · 稳定性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可达性 · 配套条件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4D89A-4A7E-45EC-9C07-3D390F6A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2828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9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864A8-2AED-45AF-9174-193D0098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99A43"/>
                </a:solidFill>
              </a:defRPr>
            </a:pPr>
            <a:r>
              <a:rPr sz="1950" b="1">
                <a:solidFill>
                  <a:srgbClr val="C99A43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D2B26-8141-4008-8E79-024CCD17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B35"/>
                </a:solidFill>
              </a:defRPr>
            </a:pPr>
            <a:r>
              <a:rPr sz="1575" b="1">
                <a:solidFill>
                  <a:srgbClr val="173B35"/>
                </a:solidFill>
              </a:rPr>
              <a:t>合作方推荐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7DD68-7ABD-4C72-B9F4-27F3A9E5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CE59F-848E-459B-B4CD-32567192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企业关系与历史关联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B142C-3D18-45F6-81A0-364D297A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EAAECB-E360-4649-8CE7-72913460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资源端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AA17C-5158-4B3A-99CC-F76EA647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00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706A"/>
                </a:solidFill>
              </a:defRPr>
            </a:pPr>
            <a:r>
              <a:rPr sz="1275" b="0">
                <a:solidFill>
                  <a:srgbClr val="5D706A"/>
                </a:solidFill>
              </a:rPr>
              <a:t>资源、产地、产量、品质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DC3A48-2922-4E12-A8FB-BC818375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需求端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C2FA6-9EFC-4146-8EDC-145073CE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006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706A"/>
                </a:solidFill>
              </a:defRPr>
            </a:pPr>
            <a:r>
              <a:rPr sz="1275" b="0">
                <a:solidFill>
                  <a:srgbClr val="5D706A"/>
                </a:solidFill>
              </a:rPr>
              <a:t>企业、技术要求、采购规模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1E705-F9A2-47C9-AA3E-4133F984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3B35"/>
                </a:solidFill>
              </a:defRPr>
            </a:pPr>
            <a:r>
              <a:rPr sz="1425" b="1">
                <a:solidFill>
                  <a:srgbClr val="173B35"/>
                </a:solidFill>
              </a:rPr>
              <a:t>从“看见资源”走向“连接价值”</a:t>
            </a:r>
          </a:p>
        </p:txBody>
      </p:sp>
    </p:spTree>
    <p:extLst>
      <p:ext uri="{BB962C8B-B14F-4D97-AF65-F5344CB8AC3E}">
        <p14:creationId xmlns:p14="http://schemas.microsoft.com/office/powerpoint/2010/main" val="10716196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13C66-28AC-457B-8ADB-C469E7AE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5B980-178E-4EDF-A7E6-4B6E69F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27568-B0E9-4FF6-ACC3-AE73F622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系统实现｜地图交互与四层架构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D4C23-2C71-4603-9D40-B991073F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0514C-2CAF-42E6-A1D5-B9DC3D81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2676C-AFDB-41C2-9E0B-74DEDABA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D6857"/>
                </a:solidFill>
              </a:defRPr>
            </a:pPr>
            <a:r>
              <a:rPr sz="1725" b="1">
                <a:solidFill>
                  <a:srgbClr val="1D6857"/>
                </a:solidFill>
              </a:rPr>
              <a:t>地图交互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A2900-0F1C-4D43-99E2-8E4EB4D7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381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县级热力图与资源蒙版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资源分布与需求热点同图呈现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点击空间单元查看来源与置信度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173B35"/>
                </a:solidFill>
              </a:defRPr>
            </a:pPr>
            <a:r>
              <a:rPr sz="1425" b="0">
                <a:solidFill>
                  <a:srgbClr val="173B35"/>
                </a:solidFill>
              </a:rPr>
              <a:t>按资源、产地、国家、产量筛选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DE2FF-741C-45A5-A729-A6BE6B1B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B35"/>
                </a:solidFill>
              </a:defRPr>
            </a:pPr>
            <a:r>
              <a:rPr sz="1575" b="1">
                <a:solidFill>
                  <a:srgbClr val="173B35"/>
                </a:solidFill>
              </a:rPr>
              <a:t>查询 → 推理 → 展示 → 反馈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250AF-0F1E-47BD-8D9F-6740BDA1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8D664-8A62-4F04-A240-36183F59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D6857"/>
                </a:solidFill>
              </a:defRPr>
            </a:pPr>
            <a:r>
              <a:rPr sz="1725" b="1">
                <a:solidFill>
                  <a:srgbClr val="1D6857"/>
                </a:solidFill>
              </a:rPr>
              <a:t>系统架构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43C55-5DFF-42F5-8755-858BBE4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4857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B98AC-D304-4AD4-91D6-8A63919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前端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03923-167A-46C4-BF77-7B755F18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地图、检索与交互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C129C-D3A0-48E9-AA13-FD196780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9900"/>
            <a:ext cx="4857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29D66-C00C-406C-ACF1-D2DC3A49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后端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58630-274F-4512-B456-20BB788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服务编排与业务逻辑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ECA77-5098-4CDF-99AF-1940786E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52850"/>
            <a:ext cx="4857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D182F-A1C6-487B-9CAF-02D1EA33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8E7F4-9B63-4F80-907A-A03F0625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HDFS · MySQL · Neo4j · ChromaDB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12D26-3C4D-46A5-9B2C-82411E7B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95800"/>
            <a:ext cx="4857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62097-902C-465B-B771-2B088956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857"/>
                </a:solidFill>
              </a:defRPr>
            </a:pPr>
            <a:r>
              <a:rPr sz="1350" b="1">
                <a:solidFill>
                  <a:srgbClr val="1D6857"/>
                </a:solidFill>
              </a:rPr>
              <a:t>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B04A4-E5DB-4CA0-96B2-0AB688FD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B35"/>
                </a:solidFill>
              </a:defRPr>
            </a:pPr>
            <a:r>
              <a:rPr sz="1275" b="0">
                <a:solidFill>
                  <a:srgbClr val="173B35"/>
                </a:solidFill>
              </a:rPr>
              <a:t>RAG、多模态抽取、空间推理</a:t>
            </a:r>
          </a:p>
        </p:txBody>
      </p:sp>
    </p:spTree>
    <p:extLst>
      <p:ext uri="{BB962C8B-B14F-4D97-AF65-F5344CB8AC3E}">
        <p14:creationId xmlns:p14="http://schemas.microsoft.com/office/powerpoint/2010/main" val="14670055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AEC68-220C-4593-B7A0-69910EAC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9F4B0-2E8B-432F-AB82-6C625349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7A6C1-059A-4AC3-A00D-5F478FA2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项目价值｜四项核心能力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9D10-2D98-4D5D-B0F8-B50C7199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509A2-B6C8-4BE0-AD23-ED8AAB97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4CEBE-E220-4539-AA0F-C11923C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99A43"/>
                </a:solidFill>
              </a:defRPr>
            </a:pPr>
            <a:r>
              <a:rPr sz="2100" b="1">
                <a:solidFill>
                  <a:srgbClr val="C99A4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D7C0A-FEFC-4664-BCF7-FAEA3115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573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B35"/>
                </a:solidFill>
              </a:defRPr>
            </a:pPr>
            <a:r>
              <a:rPr sz="1725" b="1">
                <a:solidFill>
                  <a:srgbClr val="173B35"/>
                </a:solidFill>
              </a:rPr>
              <a:t>资源库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5D66B-CFE1-4DBD-99FF-48AB084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5267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F2C15-C702-4663-BE8E-F224E9F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24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多语种、多模态语料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抽取、对齐、消解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89720-03CA-4D4F-A8A3-6CED11D9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57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99A43"/>
                </a:solidFill>
              </a:defRPr>
            </a:pPr>
            <a:r>
              <a:rPr sz="2100" b="1">
                <a:solidFill>
                  <a:srgbClr val="C99A4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932AE-7F9C-403A-80F4-95DB2365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573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B35"/>
                </a:solidFill>
              </a:defRPr>
            </a:pPr>
            <a:r>
              <a:rPr sz="1725" b="1">
                <a:solidFill>
                  <a:srgbClr val="173B35"/>
                </a:solidFill>
              </a:rPr>
              <a:t>分布可视化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08F28-311D-466C-A0B8-17AA5F97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5267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6B026-EE25-4BDD-AE6A-3C2561BF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县级粒度热力图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呈现资源分布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997A6-5C61-4E04-B406-2F4C3B62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99A43"/>
                </a:solidFill>
              </a:defRPr>
            </a:pPr>
            <a:r>
              <a:rPr sz="2100" b="1">
                <a:solidFill>
                  <a:srgbClr val="C99A4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00E8F-4E7E-4D0C-A1BB-6B6A6DB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B35"/>
                </a:solidFill>
              </a:defRPr>
            </a:pPr>
            <a:r>
              <a:rPr sz="1725" b="1">
                <a:solidFill>
                  <a:srgbClr val="173B35"/>
                </a:solidFill>
              </a:rPr>
              <a:t>资源查询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D84EC-D794-468C-B615-00DF104C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0052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AD0AA-9214-4666-BA79-0E763141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719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按种类、产地、国家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与产量交互检索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2C63A-7AD6-4BC8-A663-5A96E359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052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C99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99A43"/>
                </a:solidFill>
              </a:defRPr>
            </a:pPr>
            <a:r>
              <a:rPr sz="2100" b="1">
                <a:solidFill>
                  <a:srgbClr val="C99A43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642AE-FACF-4D04-AD8A-147B219A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052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B35"/>
                </a:solidFill>
              </a:defRPr>
            </a:pPr>
            <a:r>
              <a:rPr sz="1725" b="1">
                <a:solidFill>
                  <a:srgbClr val="173B35"/>
                </a:solidFill>
              </a:rPr>
              <a:t>供需对接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E2DE6-8552-4C59-AD70-787B0EF7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0052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158A9-895A-4ECE-9B89-D62FAE49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推荐资源、开发者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与潜在投资方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05949-4CEC-43FC-811A-7A74F1C0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6857"/>
                </a:solidFill>
              </a:defRPr>
            </a:pPr>
            <a:r>
              <a:rPr sz="1575" b="1">
                <a:solidFill>
                  <a:srgbClr val="1D6857"/>
                </a:solidFill>
              </a:rPr>
              <a:t>场景需求牵引技术集成，技术集成支撑场景落地</a:t>
            </a:r>
          </a:p>
        </p:txBody>
      </p:sp>
    </p:spTree>
    <p:extLst>
      <p:ext uri="{BB962C8B-B14F-4D97-AF65-F5344CB8AC3E}">
        <p14:creationId xmlns:p14="http://schemas.microsoft.com/office/powerpoint/2010/main" val="10569832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412FC-5C7F-4616-84FD-36E24E9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1C7B8-A0B9-4AEA-B55D-AB496FAA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6857"/>
                </a:solidFill>
              </a:defRPr>
            </a:pPr>
            <a:r>
              <a:rPr sz="975" b="1">
                <a:solidFill>
                  <a:srgbClr val="1D6857"/>
                </a:solidFill>
              </a:rPr>
              <a:t>东盟自然资源智能推理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F0660-DAC7-4009-8993-DB0CC73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35"/>
                </a:solidFill>
              </a:defRPr>
            </a:pPr>
            <a:r>
              <a:rPr sz="2550" b="1">
                <a:solidFill>
                  <a:srgbClr val="173B35"/>
                </a:solidFill>
              </a:rPr>
              <a:t>总结与展望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97091-E900-4789-BAC4-AF34DD59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08FD6-F711-4C99-A247-CC32384E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D706A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D706A"/>
                </a:solidFill>
              </a:defRPr>
            </a:pPr>
            <a:r>
              <a:rPr sz="900" b="0">
                <a:solidFill>
                  <a:srgbClr val="5D706A"/>
                </a:solidFill>
              </a:rPr>
              <a:t>广西大学｜第八届 AIC 算法大赛广西赛区省级选拔赛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85C4F-F544-4D30-B9EB-81261223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D6857"/>
                </a:solidFill>
              </a:defRPr>
            </a:pPr>
            <a:r>
              <a:rPr sz="1800" b="1">
                <a:solidFill>
                  <a:srgbClr val="1D6857"/>
                </a:solidFill>
              </a:rPr>
              <a:t>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3FED7-8784-4C71-B614-FB41C850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47759-2FD8-4F71-BDFE-8EAD4DF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048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围绕东盟自然资源发现与供需对接，形成“语料—抽取—知识—推理—对接—可视化”端到端链路。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支持分布可视化、资源查询与企业资源智能对接。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CDE3B-04A7-4BBF-99E4-E9947D4E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D6857"/>
                </a:solidFill>
              </a:defRPr>
            </a:pPr>
            <a:r>
              <a:rPr sz="1800" b="1">
                <a:solidFill>
                  <a:srgbClr val="1D6857"/>
                </a:solidFill>
              </a:rPr>
              <a:t>展望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D86DB-9608-4B38-8021-64C02D79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FCE5E-72BC-45C3-8E70-9847408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048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扩展语料覆盖与语种类型，提升低资源语种抽取能力。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改进稀疏数据下的分布估算与空间推理。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完善匹配可解释性与评估机制。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0E2D2-3615-464E-9A58-C811EDD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D6857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D6857"/>
                </a:solidFill>
              </a:defRPr>
            </a:pPr>
            <a:r>
              <a:rPr sz="1800" b="1">
                <a:solidFill>
                  <a:srgbClr val="1D6857"/>
                </a:solidFill>
              </a:rPr>
              <a:t>致谢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38944-37CA-41EF-9838-C84F7ED5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2F788-1CCA-4503-A688-8D3A610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3048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感谢广西大学东盟语料库管理与标注平台的支持。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3B35"/>
                </a:solidFill>
              </a:defRPr>
            </a:pPr>
            <a:r>
              <a:rPr sz="1350" b="0">
                <a:solidFill>
                  <a:srgbClr val="173B35"/>
                </a:solidFill>
              </a:rPr>
              <a:t>敬请各位老师批评指正。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00A65-A09A-4F36-B484-9C7162BA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3402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173B35"/>
                </a:solidFill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73B35"/>
                </a:solidFill>
              </a:defRPr>
            </a:pPr>
            <a:r>
              <a:rPr sz="2700" b="1">
                <a:solidFill>
                  <a:srgbClr val="173B35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53881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2026-10-10T01:21:35.6910000Z</dcterms:created>
  <dcterms:modified xsi:type="dcterms:W3CDTF">2026-10-10T01:21:35.6910000Z</dcterms:modified>
</coreProperties>
</file>